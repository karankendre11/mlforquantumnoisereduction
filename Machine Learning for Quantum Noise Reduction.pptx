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532" autoAdjust="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5F4437-AD1F-4C94-8021-D0D4493875EA}" type="datetimeFigureOut">
              <a:rPr lang="en-IN" smtClean="0"/>
              <a:t>13-04-2025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131226-F3EF-4491-BE94-FEA1BB6EC25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8432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F4437-AD1F-4C94-8021-D0D4493875EA}" type="datetimeFigureOut">
              <a:rPr lang="en-IN" smtClean="0"/>
              <a:t>13-04-2025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3378642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5F4437-AD1F-4C94-8021-D0D4493875EA}" type="datetimeFigureOut">
              <a:rPr lang="en-IN" smtClean="0"/>
              <a:t>13-04-2025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131226-F3EF-4491-BE94-FEA1BB6EC25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224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5F4437-AD1F-4C94-8021-D0D4493875EA}" type="datetimeFigureOut">
              <a:rPr lang="en-IN" smtClean="0"/>
              <a:t>13-04-2025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712434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5F4437-AD1F-4C94-8021-D0D4493875EA}" type="datetimeFigureOut">
              <a:rPr lang="en-IN" smtClean="0"/>
              <a:t>13-04-2025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1121754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5F4437-AD1F-4C94-8021-D0D4493875EA}" type="datetimeFigureOut">
              <a:rPr lang="en-IN" smtClean="0"/>
              <a:t>13-04-2025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2071795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B5F4437-AD1F-4C94-8021-D0D4493875EA}" type="datetimeFigureOut">
              <a:rPr lang="en-IN" smtClean="0"/>
              <a:t>13-04-2025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3615180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B5F4437-AD1F-4C94-8021-D0D4493875EA}" type="datetimeFigureOut">
              <a:rPr lang="en-IN" smtClean="0"/>
              <a:t>13-04-2025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131226-F3EF-4491-BE94-FEA1BB6EC251}" type="slidenum">
              <a:rPr lang="en-IN" smtClean="0"/>
              <a:t>‹#›</a:t>
            </a:fld>
            <a:endParaRPr lang="en-IN"/>
          </a:p>
        </p:txBody>
      </p:sp>
    </p:spTree>
    <p:extLst>
      <p:ext uri="{BB962C8B-B14F-4D97-AF65-F5344CB8AC3E}">
        <p14:creationId xmlns:p14="http://schemas.microsoft.com/office/powerpoint/2010/main" val="4180373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5F4437-AD1F-4C94-8021-D0D4493875EA}" type="datetimeFigureOut">
              <a:rPr lang="en-IN" smtClean="0"/>
              <a:t>13-04-2025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37379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F4437-AD1F-4C94-8021-D0D4493875EA}" type="datetimeFigureOut">
              <a:rPr lang="en-IN" smtClean="0"/>
              <a:t>13-04-2025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767593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F4437-AD1F-4C94-8021-D0D4493875EA}" type="datetimeFigureOut">
              <a:rPr lang="en-IN" smtClean="0"/>
              <a:t>13-04-2025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131226-F3EF-4491-BE94-FEA1BB6EC251}" type="slidenum">
              <a:rPr lang="en-IN" smtClean="0"/>
              <a:t>‹#›</a:t>
            </a:fld>
            <a:endParaRPr lang="en-IN"/>
          </a:p>
        </p:txBody>
      </p:sp>
    </p:spTree>
    <p:extLst>
      <p:ext uri="{BB962C8B-B14F-4D97-AF65-F5344CB8AC3E}">
        <p14:creationId xmlns:p14="http://schemas.microsoft.com/office/powerpoint/2010/main" val="2241340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B5F4437-AD1F-4C94-8021-D0D4493875EA}" type="datetimeFigureOut">
              <a:rPr lang="en-IN" smtClean="0"/>
              <a:t>13-04-2025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131226-F3EF-4491-BE94-FEA1BB6EC25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04513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nature.com/articles/s41534-022-00621-4" TargetMode="External"/><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hyperlink" Target="https://www.nature.com/articles/s41586-024-08148-8"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E375-3EEE-1CF2-9552-7D42571D84D6}"/>
              </a:ext>
            </a:extLst>
          </p:cNvPr>
          <p:cNvSpPr>
            <a:spLocks noGrp="1"/>
          </p:cNvSpPr>
          <p:nvPr>
            <p:ph type="ctrTitle"/>
          </p:nvPr>
        </p:nvSpPr>
        <p:spPr/>
        <p:txBody>
          <a:bodyPr>
            <a:normAutofit/>
          </a:bodyPr>
          <a:lstStyle/>
          <a:p>
            <a:r>
              <a:rPr lang="en-IN" dirty="0"/>
              <a:t>Machine Learning for Quantum Noise Reduction	</a:t>
            </a:r>
          </a:p>
        </p:txBody>
      </p:sp>
      <p:sp>
        <p:nvSpPr>
          <p:cNvPr id="3" name="Subtitle 2">
            <a:extLst>
              <a:ext uri="{FF2B5EF4-FFF2-40B4-BE49-F238E27FC236}">
                <a16:creationId xmlns:a16="http://schemas.microsoft.com/office/drawing/2014/main" id="{589FA211-AD18-F85B-6EFC-1DF02F8EB492}"/>
              </a:ext>
            </a:extLst>
          </p:cNvPr>
          <p:cNvSpPr>
            <a:spLocks noGrp="1"/>
          </p:cNvSpPr>
          <p:nvPr>
            <p:ph type="subTitle" idx="1"/>
          </p:nvPr>
        </p:nvSpPr>
        <p:spPr>
          <a:xfrm>
            <a:off x="1524000" y="5825067"/>
            <a:ext cx="10668000" cy="461961"/>
          </a:xfrm>
        </p:spPr>
        <p:txBody>
          <a:bodyPr>
            <a:normAutofit/>
          </a:bodyPr>
          <a:lstStyle/>
          <a:p>
            <a:r>
              <a:rPr lang="en-IN" dirty="0"/>
              <a:t>							- Karan Kendre, MSCS</a:t>
            </a:r>
          </a:p>
        </p:txBody>
      </p:sp>
      <p:pic>
        <p:nvPicPr>
          <p:cNvPr id="1026" name="Picture 2" descr="Seal - Brand Center">
            <a:extLst>
              <a:ext uri="{FF2B5EF4-FFF2-40B4-BE49-F238E27FC236}">
                <a16:creationId xmlns:a16="http://schemas.microsoft.com/office/drawing/2014/main" id="{8F8D4490-2EBE-D7C8-6F16-DB195F4CC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8666" y="206905"/>
            <a:ext cx="1511829" cy="1511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669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7A80-2D09-A720-E4E6-EA45B582E951}"/>
              </a:ext>
            </a:extLst>
          </p:cNvPr>
          <p:cNvSpPr>
            <a:spLocks noGrp="1"/>
          </p:cNvSpPr>
          <p:nvPr>
            <p:ph type="title" idx="4294967295"/>
          </p:nvPr>
        </p:nvSpPr>
        <p:spPr>
          <a:xfrm>
            <a:off x="1" y="0"/>
            <a:ext cx="12192000" cy="694267"/>
          </a:xfrm>
        </p:spPr>
        <p:txBody>
          <a:bodyPr>
            <a:normAutofit fontScale="90000"/>
          </a:bodyPr>
          <a:lstStyle/>
          <a:p>
            <a:r>
              <a:rPr lang="en-IN" dirty="0"/>
              <a:t>Introduction</a:t>
            </a:r>
          </a:p>
        </p:txBody>
      </p:sp>
      <p:sp>
        <p:nvSpPr>
          <p:cNvPr id="4" name="TextBox 3">
            <a:extLst>
              <a:ext uri="{FF2B5EF4-FFF2-40B4-BE49-F238E27FC236}">
                <a16:creationId xmlns:a16="http://schemas.microsoft.com/office/drawing/2014/main" id="{A6773C1F-9419-83B4-D1F9-B745FC94927F}"/>
              </a:ext>
            </a:extLst>
          </p:cNvPr>
          <p:cNvSpPr txBox="1"/>
          <p:nvPr/>
        </p:nvSpPr>
        <p:spPr>
          <a:xfrm>
            <a:off x="-1" y="737050"/>
            <a:ext cx="12192000" cy="1354217"/>
          </a:xfrm>
          <a:prstGeom prst="rect">
            <a:avLst/>
          </a:prstGeom>
          <a:noFill/>
        </p:spPr>
        <p:txBody>
          <a:bodyPr wrap="square" rtlCol="0">
            <a:spAutoFit/>
          </a:bodyPr>
          <a:lstStyle/>
          <a:p>
            <a:r>
              <a:rPr lang="en-IN" dirty="0"/>
              <a:t>Motivation:</a:t>
            </a:r>
          </a:p>
          <a:p>
            <a:r>
              <a:rPr lang="en-IN" sz="1600" dirty="0"/>
              <a:t>Quantum computing is an emerging revolutionary field and will be the next era of computing as we reach the limits of Moore’s law. we can’t have better performance without tapping in the realm of quantum. </a:t>
            </a:r>
            <a:r>
              <a:rPr lang="en-US" sz="1600" dirty="0"/>
              <a:t>QC has potential to drastically outperform classical computing in fields like cryptography, pharmaceuticals, optimization problems, and complex simulations. However, quantum systems are extremely sensitive and vulnerable to noise, which can significantly degrade computational accuracy.</a:t>
            </a:r>
            <a:endParaRPr lang="en-IN" sz="1600" dirty="0"/>
          </a:p>
        </p:txBody>
      </p:sp>
      <p:sp>
        <p:nvSpPr>
          <p:cNvPr id="5" name="TextBox 4">
            <a:extLst>
              <a:ext uri="{FF2B5EF4-FFF2-40B4-BE49-F238E27FC236}">
                <a16:creationId xmlns:a16="http://schemas.microsoft.com/office/drawing/2014/main" id="{7B066E47-744A-96FF-0FA5-8BEC2FA4BC11}"/>
              </a:ext>
            </a:extLst>
          </p:cNvPr>
          <p:cNvSpPr txBox="1"/>
          <p:nvPr/>
        </p:nvSpPr>
        <p:spPr>
          <a:xfrm>
            <a:off x="-1" y="2134050"/>
            <a:ext cx="12192000" cy="2092881"/>
          </a:xfrm>
          <a:prstGeom prst="rect">
            <a:avLst/>
          </a:prstGeom>
          <a:noFill/>
        </p:spPr>
        <p:txBody>
          <a:bodyPr wrap="square" rtlCol="0">
            <a:spAutoFit/>
          </a:bodyPr>
          <a:lstStyle/>
          <a:p>
            <a:r>
              <a:rPr lang="en-IN" dirty="0"/>
              <a:t>Business:</a:t>
            </a:r>
          </a:p>
          <a:p>
            <a:r>
              <a:rPr lang="en-US" sz="1600" dirty="0"/>
              <a:t>Quantum noise induces errors that limit the practical scalability and reliability of quantum computers. For companies heavily investing in quantum technology, such </a:t>
            </a:r>
          </a:p>
          <a:p>
            <a:r>
              <a:rPr lang="en-US" sz="1600" dirty="0"/>
              <a:t>as tech giants like IBM, Google, and Amazon, pharmaceutical firms, financial institutions, and national research institutes, preventing quantum noise is critical. Effective quantum noise reduction can accelerate the development of practical quantum computing applications and make them more reliable. However, noise-generated errors are significant problems, complicating practical use and uptake. Effectively reducing or removing quantum noise is thus key to businesses that want to employ quantum computing for tangible, real-world use, competitive edge, and strategic technological influence.</a:t>
            </a:r>
            <a:endParaRPr lang="en-IN" sz="1600" dirty="0"/>
          </a:p>
        </p:txBody>
      </p:sp>
      <p:sp>
        <p:nvSpPr>
          <p:cNvPr id="6" name="TextBox 5">
            <a:extLst>
              <a:ext uri="{FF2B5EF4-FFF2-40B4-BE49-F238E27FC236}">
                <a16:creationId xmlns:a16="http://schemas.microsoft.com/office/drawing/2014/main" id="{626AD9F2-1ABA-B362-8835-0498C5EA95AE}"/>
              </a:ext>
            </a:extLst>
          </p:cNvPr>
          <p:cNvSpPr txBox="1"/>
          <p:nvPr/>
        </p:nvSpPr>
        <p:spPr>
          <a:xfrm>
            <a:off x="0" y="4269714"/>
            <a:ext cx="12191999" cy="1846659"/>
          </a:xfrm>
          <a:prstGeom prst="rect">
            <a:avLst/>
          </a:prstGeom>
          <a:noFill/>
        </p:spPr>
        <p:txBody>
          <a:bodyPr wrap="square" rtlCol="0">
            <a:spAutoFit/>
          </a:bodyPr>
          <a:lstStyle/>
          <a:p>
            <a:r>
              <a:rPr lang="en-IN" dirty="0"/>
              <a:t>Importance (Broader context)</a:t>
            </a:r>
          </a:p>
          <a:p>
            <a:r>
              <a:rPr lang="en-US" sz="1600" dirty="0"/>
              <a:t>Quantum noise analysis and suppression by new methods such as machine learning directly contribute to the acceleration of the progress of quantum computing from theoretical potential to practical reality. With the use of advanced machine learning software such as convolutional neural networks (CNN), we can actively reconstruct noisy quantum state measurements, effectively correcting errors. Not only does this enhance computational stability but also opens up feasible commercial applications for quantum computing. Firms can then proceed to use quantum computing securely to crack hitherto insurmountable challenges and revolutionize sectors like cybersecurity, logistics optimization, pharmaceutical discovery, and finance modeling.</a:t>
            </a:r>
            <a:endParaRPr lang="en-IN" sz="1600" dirty="0"/>
          </a:p>
        </p:txBody>
      </p:sp>
    </p:spTree>
    <p:extLst>
      <p:ext uri="{BB962C8B-B14F-4D97-AF65-F5344CB8AC3E}">
        <p14:creationId xmlns:p14="http://schemas.microsoft.com/office/powerpoint/2010/main" val="1239468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8595-D02E-D931-490B-E1942AA36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7236E-3D5A-B51A-BF07-0FD63D2ACC04}"/>
              </a:ext>
            </a:extLst>
          </p:cNvPr>
          <p:cNvSpPr>
            <a:spLocks noGrp="1"/>
          </p:cNvSpPr>
          <p:nvPr>
            <p:ph type="title" idx="4294967295"/>
          </p:nvPr>
        </p:nvSpPr>
        <p:spPr>
          <a:xfrm>
            <a:off x="1" y="0"/>
            <a:ext cx="12192000" cy="694267"/>
          </a:xfrm>
        </p:spPr>
        <p:txBody>
          <a:bodyPr>
            <a:normAutofit fontScale="90000"/>
          </a:bodyPr>
          <a:lstStyle/>
          <a:p>
            <a:r>
              <a:rPr lang="en-IN" dirty="0"/>
              <a:t>Data Analysis and Feature Discovery</a:t>
            </a:r>
          </a:p>
        </p:txBody>
      </p:sp>
      <p:sp>
        <p:nvSpPr>
          <p:cNvPr id="3" name="TextBox 2">
            <a:extLst>
              <a:ext uri="{FF2B5EF4-FFF2-40B4-BE49-F238E27FC236}">
                <a16:creationId xmlns:a16="http://schemas.microsoft.com/office/drawing/2014/main" id="{AB405E47-529F-379A-A5D7-09E1732C52D4}"/>
              </a:ext>
            </a:extLst>
          </p:cNvPr>
          <p:cNvSpPr txBox="1"/>
          <p:nvPr/>
        </p:nvSpPr>
        <p:spPr>
          <a:xfrm>
            <a:off x="1" y="864523"/>
            <a:ext cx="12192000" cy="1107996"/>
          </a:xfrm>
          <a:prstGeom prst="rect">
            <a:avLst/>
          </a:prstGeom>
          <a:noFill/>
        </p:spPr>
        <p:txBody>
          <a:bodyPr wrap="square" rtlCol="0">
            <a:spAutoFit/>
          </a:bodyPr>
          <a:lstStyle/>
          <a:p>
            <a:r>
              <a:rPr lang="en-US" dirty="0"/>
              <a:t>Original Analysis</a:t>
            </a:r>
          </a:p>
          <a:p>
            <a:r>
              <a:rPr lang="en-US" sz="1600" dirty="0"/>
              <a:t>Computed fidelity for 10K noisy-clean pairs, analyzed improvement across noise types &amp; levels. Identified top-5 and bottom-5 samples by fidelity gain</a:t>
            </a:r>
          </a:p>
          <a:p>
            <a:endParaRPr lang="en-IN" sz="1600" dirty="0"/>
          </a:p>
        </p:txBody>
      </p:sp>
      <p:sp>
        <p:nvSpPr>
          <p:cNvPr id="8" name="TextBox 7">
            <a:extLst>
              <a:ext uri="{FF2B5EF4-FFF2-40B4-BE49-F238E27FC236}">
                <a16:creationId xmlns:a16="http://schemas.microsoft.com/office/drawing/2014/main" id="{E3606A2E-2E91-9007-1D6E-8F54643810A3}"/>
              </a:ext>
            </a:extLst>
          </p:cNvPr>
          <p:cNvSpPr txBox="1"/>
          <p:nvPr/>
        </p:nvSpPr>
        <p:spPr>
          <a:xfrm>
            <a:off x="0" y="1827152"/>
            <a:ext cx="6217920" cy="1354217"/>
          </a:xfrm>
          <a:prstGeom prst="rect">
            <a:avLst/>
          </a:prstGeom>
          <a:noFill/>
        </p:spPr>
        <p:txBody>
          <a:bodyPr wrap="square">
            <a:spAutoFit/>
          </a:bodyPr>
          <a:lstStyle/>
          <a:p>
            <a:r>
              <a:rPr lang="en-IN" dirty="0"/>
              <a:t>Methods Used</a:t>
            </a:r>
          </a:p>
          <a:p>
            <a:r>
              <a:rPr lang="en-IN" sz="1600" dirty="0"/>
              <a:t>1. Grouped averages with pandas.</a:t>
            </a:r>
            <a:br>
              <a:rPr lang="en-IN" sz="1600" dirty="0"/>
            </a:br>
            <a:r>
              <a:rPr lang="en-IN" sz="1600" dirty="0"/>
              <a:t>2. Made correlation matrix (Pearson) → -0.55 (noise level vs fidelity).</a:t>
            </a:r>
          </a:p>
          <a:p>
            <a:r>
              <a:rPr lang="en-IN" sz="1600" dirty="0"/>
              <a:t>3. Histogram of fidelity improvements Sample sorting to detect edge </a:t>
            </a:r>
            <a:br>
              <a:rPr lang="en-IN" sz="1600" dirty="0"/>
            </a:br>
            <a:r>
              <a:rPr lang="en-IN" sz="1600" dirty="0"/>
              <a:t>     case behaviour.</a:t>
            </a:r>
          </a:p>
        </p:txBody>
      </p:sp>
      <p:pic>
        <p:nvPicPr>
          <p:cNvPr id="10" name="Picture 9">
            <a:extLst>
              <a:ext uri="{FF2B5EF4-FFF2-40B4-BE49-F238E27FC236}">
                <a16:creationId xmlns:a16="http://schemas.microsoft.com/office/drawing/2014/main" id="{DDC87E5D-B735-FBC2-4F1E-5B347CB5A0DD}"/>
              </a:ext>
            </a:extLst>
          </p:cNvPr>
          <p:cNvPicPr>
            <a:picLocks noChangeAspect="1"/>
          </p:cNvPicPr>
          <p:nvPr/>
        </p:nvPicPr>
        <p:blipFill>
          <a:blip r:embed="rId2"/>
          <a:stretch>
            <a:fillRect/>
          </a:stretch>
        </p:blipFill>
        <p:spPr>
          <a:xfrm>
            <a:off x="6096000" y="1523058"/>
            <a:ext cx="2721033" cy="2040774"/>
          </a:xfrm>
          <a:prstGeom prst="rect">
            <a:avLst/>
          </a:prstGeom>
        </p:spPr>
      </p:pic>
      <p:pic>
        <p:nvPicPr>
          <p:cNvPr id="12" name="Picture 11">
            <a:extLst>
              <a:ext uri="{FF2B5EF4-FFF2-40B4-BE49-F238E27FC236}">
                <a16:creationId xmlns:a16="http://schemas.microsoft.com/office/drawing/2014/main" id="{9A8D3681-4967-B8A2-231B-B156231176BD}"/>
              </a:ext>
            </a:extLst>
          </p:cNvPr>
          <p:cNvPicPr>
            <a:picLocks noChangeAspect="1"/>
          </p:cNvPicPr>
          <p:nvPr/>
        </p:nvPicPr>
        <p:blipFill>
          <a:blip r:embed="rId3"/>
          <a:stretch>
            <a:fillRect/>
          </a:stretch>
        </p:blipFill>
        <p:spPr>
          <a:xfrm>
            <a:off x="9249514" y="1523056"/>
            <a:ext cx="2721031" cy="2040773"/>
          </a:xfrm>
          <a:prstGeom prst="rect">
            <a:avLst/>
          </a:prstGeom>
        </p:spPr>
      </p:pic>
      <p:pic>
        <p:nvPicPr>
          <p:cNvPr id="14" name="Picture 13">
            <a:extLst>
              <a:ext uri="{FF2B5EF4-FFF2-40B4-BE49-F238E27FC236}">
                <a16:creationId xmlns:a16="http://schemas.microsoft.com/office/drawing/2014/main" id="{EB683E26-5C4E-133A-C4E5-5078073B586F}"/>
              </a:ext>
            </a:extLst>
          </p:cNvPr>
          <p:cNvPicPr>
            <a:picLocks noChangeAspect="1"/>
          </p:cNvPicPr>
          <p:nvPr/>
        </p:nvPicPr>
        <p:blipFill>
          <a:blip r:embed="rId4"/>
          <a:stretch>
            <a:fillRect/>
          </a:stretch>
        </p:blipFill>
        <p:spPr>
          <a:xfrm>
            <a:off x="191699" y="3563829"/>
            <a:ext cx="4897855" cy="2040773"/>
          </a:xfrm>
          <a:prstGeom prst="rect">
            <a:avLst/>
          </a:prstGeom>
        </p:spPr>
      </p:pic>
      <p:sp>
        <p:nvSpPr>
          <p:cNvPr id="15" name="TextBox 14">
            <a:extLst>
              <a:ext uri="{FF2B5EF4-FFF2-40B4-BE49-F238E27FC236}">
                <a16:creationId xmlns:a16="http://schemas.microsoft.com/office/drawing/2014/main" id="{28645E3D-0924-941F-C38A-A76C3B32FE3B}"/>
              </a:ext>
            </a:extLst>
          </p:cNvPr>
          <p:cNvSpPr txBox="1"/>
          <p:nvPr/>
        </p:nvSpPr>
        <p:spPr>
          <a:xfrm>
            <a:off x="0" y="5311833"/>
            <a:ext cx="5281254" cy="584775"/>
          </a:xfrm>
          <a:prstGeom prst="rect">
            <a:avLst/>
          </a:prstGeom>
          <a:noFill/>
        </p:spPr>
        <p:txBody>
          <a:bodyPr wrap="none" rtlCol="0">
            <a:spAutoFit/>
          </a:bodyPr>
          <a:lstStyle/>
          <a:p>
            <a:r>
              <a:rPr lang="en-US" sz="1600" dirty="0"/>
              <a:t>Model work best for mixed and bitflip noise and struggled for</a:t>
            </a:r>
          </a:p>
          <a:p>
            <a:r>
              <a:rPr lang="en-US" sz="1600" dirty="0"/>
              <a:t>Phase damping noise.</a:t>
            </a:r>
            <a:endParaRPr lang="en-IN" sz="1600" dirty="0"/>
          </a:p>
        </p:txBody>
      </p:sp>
      <p:pic>
        <p:nvPicPr>
          <p:cNvPr id="17" name="Picture 16">
            <a:extLst>
              <a:ext uri="{FF2B5EF4-FFF2-40B4-BE49-F238E27FC236}">
                <a16:creationId xmlns:a16="http://schemas.microsoft.com/office/drawing/2014/main" id="{54F04CB1-27A2-AD36-1337-A769F87CB4BB}"/>
              </a:ext>
            </a:extLst>
          </p:cNvPr>
          <p:cNvPicPr>
            <a:picLocks noChangeAspect="1"/>
          </p:cNvPicPr>
          <p:nvPr/>
        </p:nvPicPr>
        <p:blipFill>
          <a:blip r:embed="rId5"/>
          <a:stretch>
            <a:fillRect/>
          </a:stretch>
        </p:blipFill>
        <p:spPr>
          <a:xfrm>
            <a:off x="6478835" y="3563829"/>
            <a:ext cx="4897853" cy="2040772"/>
          </a:xfrm>
          <a:prstGeom prst="rect">
            <a:avLst/>
          </a:prstGeom>
        </p:spPr>
      </p:pic>
      <p:sp>
        <p:nvSpPr>
          <p:cNvPr id="19" name="TextBox 18">
            <a:extLst>
              <a:ext uri="{FF2B5EF4-FFF2-40B4-BE49-F238E27FC236}">
                <a16:creationId xmlns:a16="http://schemas.microsoft.com/office/drawing/2014/main" id="{48F35886-CB40-2609-5241-8FB181B0F43F}"/>
              </a:ext>
            </a:extLst>
          </p:cNvPr>
          <p:cNvSpPr txBox="1"/>
          <p:nvPr/>
        </p:nvSpPr>
        <p:spPr>
          <a:xfrm>
            <a:off x="6217920" y="5311833"/>
            <a:ext cx="6217920" cy="338554"/>
          </a:xfrm>
          <a:prstGeom prst="rect">
            <a:avLst/>
          </a:prstGeom>
          <a:noFill/>
        </p:spPr>
        <p:txBody>
          <a:bodyPr wrap="square">
            <a:spAutoFit/>
          </a:bodyPr>
          <a:lstStyle/>
          <a:p>
            <a:r>
              <a:rPr lang="en-US" sz="1600" dirty="0"/>
              <a:t>Higher noise levels yielded b</a:t>
            </a:r>
            <a:r>
              <a:rPr lang="en-US" sz="1600" dirty="0">
                <a:solidFill>
                  <a:schemeClr val="tx1">
                    <a:lumMod val="75000"/>
                    <a:lumOff val="25000"/>
                  </a:schemeClr>
                </a:solidFill>
              </a:rPr>
              <a:t>ette</a:t>
            </a:r>
            <a:r>
              <a:rPr lang="en-US" sz="1600" dirty="0"/>
              <a:t>r learning margins.</a:t>
            </a:r>
          </a:p>
        </p:txBody>
      </p:sp>
    </p:spTree>
    <p:extLst>
      <p:ext uri="{BB962C8B-B14F-4D97-AF65-F5344CB8AC3E}">
        <p14:creationId xmlns:p14="http://schemas.microsoft.com/office/powerpoint/2010/main" val="2259016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59F74D7-CF84-4CF3-F6AC-FA5FD86CF273}"/>
              </a:ext>
            </a:extLst>
          </p:cNvPr>
          <p:cNvPicPr>
            <a:picLocks noChangeAspect="1"/>
          </p:cNvPicPr>
          <p:nvPr/>
        </p:nvPicPr>
        <p:blipFill>
          <a:blip r:embed="rId2"/>
          <a:stretch>
            <a:fillRect/>
          </a:stretch>
        </p:blipFill>
        <p:spPr>
          <a:xfrm>
            <a:off x="7340138" y="2822893"/>
            <a:ext cx="4851862" cy="3195521"/>
          </a:xfrm>
          <a:prstGeom prst="rect">
            <a:avLst/>
          </a:prstGeom>
        </p:spPr>
      </p:pic>
      <p:sp>
        <p:nvSpPr>
          <p:cNvPr id="4" name="TextBox 3">
            <a:extLst>
              <a:ext uri="{FF2B5EF4-FFF2-40B4-BE49-F238E27FC236}">
                <a16:creationId xmlns:a16="http://schemas.microsoft.com/office/drawing/2014/main" id="{57D7D8B2-D9D8-57FB-21B6-70A003D59A7B}"/>
              </a:ext>
            </a:extLst>
          </p:cNvPr>
          <p:cNvSpPr txBox="1"/>
          <p:nvPr/>
        </p:nvSpPr>
        <p:spPr>
          <a:xfrm>
            <a:off x="0" y="0"/>
            <a:ext cx="12192000" cy="754053"/>
          </a:xfrm>
          <a:prstGeom prst="rect">
            <a:avLst/>
          </a:prstGeom>
          <a:noFill/>
        </p:spPr>
        <p:txBody>
          <a:bodyPr wrap="square" rtlCol="0">
            <a:spAutoFit/>
          </a:bodyPr>
          <a:lstStyle/>
          <a:p>
            <a:r>
              <a:rPr lang="en-IN" sz="4300" dirty="0">
                <a:solidFill>
                  <a:schemeClr val="tx1">
                    <a:lumMod val="75000"/>
                    <a:lumOff val="25000"/>
                  </a:schemeClr>
                </a:solidFill>
                <a:latin typeface="+mj-lt"/>
              </a:rPr>
              <a:t>Related Inspiring Work</a:t>
            </a:r>
          </a:p>
        </p:txBody>
      </p:sp>
      <p:sp>
        <p:nvSpPr>
          <p:cNvPr id="5" name="TextBox 4">
            <a:extLst>
              <a:ext uri="{FF2B5EF4-FFF2-40B4-BE49-F238E27FC236}">
                <a16:creationId xmlns:a16="http://schemas.microsoft.com/office/drawing/2014/main" id="{9C70B32B-63EE-6951-DE43-041FD19BE254}"/>
              </a:ext>
            </a:extLst>
          </p:cNvPr>
          <p:cNvSpPr txBox="1"/>
          <p:nvPr/>
        </p:nvSpPr>
        <p:spPr>
          <a:xfrm>
            <a:off x="0" y="839586"/>
            <a:ext cx="12192000" cy="2123658"/>
          </a:xfrm>
          <a:prstGeom prst="rect">
            <a:avLst/>
          </a:prstGeom>
          <a:noFill/>
        </p:spPr>
        <p:txBody>
          <a:bodyPr wrap="square" rtlCol="0">
            <a:spAutoFit/>
          </a:bodyPr>
          <a:lstStyle/>
          <a:p>
            <a:pPr marL="342900" indent="-342900">
              <a:buAutoNum type="arabicPeriod"/>
            </a:pPr>
            <a:r>
              <a:rPr lang="en-US" dirty="0"/>
              <a:t>Efficient Quantum State Tomography with CNNs</a:t>
            </a:r>
            <a:r>
              <a:rPr lang="en-IN" b="1" dirty="0"/>
              <a:t> </a:t>
            </a:r>
            <a:r>
              <a:rPr lang="en-IN" dirty="0"/>
              <a:t>[link: </a:t>
            </a:r>
            <a:r>
              <a:rPr lang="en-IN" dirty="0" err="1">
                <a:hlinkClick r:id="rId3"/>
              </a:rPr>
              <a:t>npj</a:t>
            </a:r>
            <a:r>
              <a:rPr lang="en-IN" dirty="0">
                <a:hlinkClick r:id="rId3"/>
              </a:rPr>
              <a:t> Quantum Information, 2022</a:t>
            </a:r>
            <a:r>
              <a:rPr lang="en-IN" dirty="0"/>
              <a:t>]</a:t>
            </a:r>
            <a:br>
              <a:rPr lang="en-IN" sz="1600" dirty="0"/>
            </a:br>
            <a:r>
              <a:rPr lang="en-IN" sz="1600" dirty="0"/>
              <a:t>- </a:t>
            </a:r>
            <a:r>
              <a:rPr lang="en-US" sz="1600" dirty="0"/>
              <a:t>Used </a:t>
            </a:r>
            <a:r>
              <a:rPr lang="en-US" sz="1600" b="1" dirty="0"/>
              <a:t>Convolutional Neural Networks (CNNs)</a:t>
            </a:r>
            <a:r>
              <a:rPr lang="en-US" sz="1600" dirty="0"/>
              <a:t> to reconstruct quantum states from tomographic data.</a:t>
            </a:r>
            <a:br>
              <a:rPr lang="en-US" sz="1600" dirty="0"/>
            </a:br>
            <a:r>
              <a:rPr lang="en-US" sz="1600" dirty="0"/>
              <a:t>- Outperformed traditional convex optimization methods in speed and accuracy.</a:t>
            </a:r>
            <a:br>
              <a:rPr lang="en-US" sz="1600" dirty="0"/>
            </a:br>
            <a:r>
              <a:rPr lang="en-US" sz="1600" dirty="0"/>
              <a:t>- Tackled the scalability issue in high-dimensional quantum tomography.</a:t>
            </a:r>
            <a:br>
              <a:rPr lang="en-US" sz="1600" dirty="0"/>
            </a:br>
            <a:br>
              <a:rPr lang="en-US" sz="1600" dirty="0"/>
            </a:br>
            <a:r>
              <a:rPr lang="en-US" dirty="0"/>
              <a:t>Inspiration:</a:t>
            </a:r>
            <a:br>
              <a:rPr lang="en-IN" sz="1600" dirty="0"/>
            </a:br>
            <a:r>
              <a:rPr lang="en-IN" sz="1600" dirty="0"/>
              <a:t>- </a:t>
            </a:r>
            <a:r>
              <a:rPr lang="en-US" sz="1600" dirty="0"/>
              <a:t>We also use CNNs though not for tomography but for </a:t>
            </a:r>
            <a:r>
              <a:rPr lang="en-US" sz="1600" b="1" dirty="0"/>
              <a:t>denoising density matrices.</a:t>
            </a:r>
            <a:br>
              <a:rPr lang="en-IN" sz="1600" b="1" dirty="0"/>
            </a:br>
            <a:r>
              <a:rPr lang="en-IN" sz="1600" dirty="0"/>
              <a:t>- </a:t>
            </a:r>
            <a:r>
              <a:rPr lang="en-US" sz="1600" dirty="0"/>
              <a:t>Their results </a:t>
            </a:r>
            <a:r>
              <a:rPr lang="en-US" sz="1600" b="1" dirty="0"/>
              <a:t>corroborate</a:t>
            </a:r>
            <a:r>
              <a:rPr lang="en-US" sz="1600" dirty="0"/>
              <a:t> that CNNs can learn quantum state structures effectively.</a:t>
            </a:r>
          </a:p>
        </p:txBody>
      </p:sp>
      <p:pic>
        <p:nvPicPr>
          <p:cNvPr id="9" name="Picture 8">
            <a:extLst>
              <a:ext uri="{FF2B5EF4-FFF2-40B4-BE49-F238E27FC236}">
                <a16:creationId xmlns:a16="http://schemas.microsoft.com/office/drawing/2014/main" id="{D793BECC-6CB4-DB29-7F87-542FE5A55D9C}"/>
              </a:ext>
            </a:extLst>
          </p:cNvPr>
          <p:cNvPicPr>
            <a:picLocks noChangeAspect="1"/>
          </p:cNvPicPr>
          <p:nvPr/>
        </p:nvPicPr>
        <p:blipFill>
          <a:blip r:embed="rId4"/>
          <a:stretch>
            <a:fillRect/>
          </a:stretch>
        </p:blipFill>
        <p:spPr>
          <a:xfrm>
            <a:off x="9593712" y="705068"/>
            <a:ext cx="2474941" cy="1165569"/>
          </a:xfrm>
          <a:prstGeom prst="rect">
            <a:avLst/>
          </a:prstGeom>
        </p:spPr>
      </p:pic>
      <p:sp>
        <p:nvSpPr>
          <p:cNvPr id="11" name="TextBox 10">
            <a:extLst>
              <a:ext uri="{FF2B5EF4-FFF2-40B4-BE49-F238E27FC236}">
                <a16:creationId xmlns:a16="http://schemas.microsoft.com/office/drawing/2014/main" id="{67A63909-9D71-4850-8DCF-05D07102D915}"/>
              </a:ext>
            </a:extLst>
          </p:cNvPr>
          <p:cNvSpPr txBox="1"/>
          <p:nvPr/>
        </p:nvSpPr>
        <p:spPr>
          <a:xfrm>
            <a:off x="0" y="3089405"/>
            <a:ext cx="7481455" cy="2616101"/>
          </a:xfrm>
          <a:prstGeom prst="rect">
            <a:avLst/>
          </a:prstGeom>
          <a:noFill/>
        </p:spPr>
        <p:txBody>
          <a:bodyPr wrap="square" rtlCol="0">
            <a:spAutoFit/>
          </a:bodyPr>
          <a:lstStyle/>
          <a:p>
            <a:pPr marL="342900" indent="-342900">
              <a:buAutoNum type="arabicPeriod" startAt="2"/>
            </a:pPr>
            <a:r>
              <a:rPr lang="fr-FR" dirty="0"/>
              <a:t>AlphaQubit: Neural Decoder for Surface Codes</a:t>
            </a:r>
            <a:r>
              <a:rPr lang="en-IN" dirty="0"/>
              <a:t> [link: </a:t>
            </a:r>
            <a:r>
              <a:rPr lang="en-IN" dirty="0">
                <a:hlinkClick r:id="rId5"/>
              </a:rPr>
              <a:t>nature, 2024</a:t>
            </a:r>
            <a:r>
              <a:rPr lang="en-IN" dirty="0"/>
              <a:t>]</a:t>
            </a:r>
            <a:br>
              <a:rPr lang="en-IN" sz="1600" dirty="0"/>
            </a:br>
            <a:r>
              <a:rPr lang="en-IN" sz="1600" dirty="0"/>
              <a:t>- </a:t>
            </a:r>
            <a:r>
              <a:rPr lang="en-US" sz="1600" dirty="0"/>
              <a:t>Used a </a:t>
            </a:r>
            <a:r>
              <a:rPr lang="en-US" sz="1600" b="1" dirty="0"/>
              <a:t>Transformer-based model</a:t>
            </a:r>
            <a:r>
              <a:rPr lang="en-US" sz="1600" dirty="0"/>
              <a:t> to decode quantum errors from real hardware (Google Sycamore)</a:t>
            </a:r>
            <a:r>
              <a:rPr lang="en-IN" sz="1600" dirty="0"/>
              <a:t>.</a:t>
            </a:r>
            <a:br>
              <a:rPr lang="en-IN" sz="1600" dirty="0"/>
            </a:br>
            <a:r>
              <a:rPr lang="en-IN" sz="1600" dirty="0"/>
              <a:t>- </a:t>
            </a:r>
            <a:r>
              <a:rPr lang="en-US" sz="1600" dirty="0"/>
              <a:t>Demonstrated </a:t>
            </a:r>
            <a:r>
              <a:rPr lang="en-US" sz="1600" b="1" dirty="0"/>
              <a:t>superior generalization</a:t>
            </a:r>
            <a:r>
              <a:rPr lang="en-US" sz="1600" dirty="0"/>
              <a:t> across code layouts and noise profiles.</a:t>
            </a:r>
            <a:br>
              <a:rPr lang="en-US" sz="1600" dirty="0"/>
            </a:br>
            <a:r>
              <a:rPr lang="en-US" sz="1600" dirty="0"/>
              <a:t>- First practical deep learning application in real QEC hardware.</a:t>
            </a:r>
            <a:br>
              <a:rPr lang="en-US" sz="1600" dirty="0"/>
            </a:br>
            <a:br>
              <a:rPr lang="en-US" sz="1600" dirty="0"/>
            </a:br>
            <a:r>
              <a:rPr lang="en-US" dirty="0"/>
              <a:t>Inspiration:</a:t>
            </a:r>
            <a:br>
              <a:rPr lang="en-IN" sz="1600" dirty="0"/>
            </a:br>
            <a:r>
              <a:rPr lang="en-IN" sz="1600" dirty="0"/>
              <a:t>- </a:t>
            </a:r>
            <a:r>
              <a:rPr lang="en-US" sz="1600" dirty="0"/>
              <a:t>Validates the idea that </a:t>
            </a:r>
            <a:r>
              <a:rPr lang="en-US" sz="1600" b="1" dirty="0"/>
              <a:t>deep models can outperform traditional decoders</a:t>
            </a:r>
            <a:r>
              <a:rPr lang="en-IN" sz="1600" b="1" dirty="0"/>
              <a:t>.</a:t>
            </a:r>
            <a:br>
              <a:rPr lang="en-IN" sz="1600" b="1" dirty="0"/>
            </a:br>
            <a:r>
              <a:rPr lang="en-IN" sz="1600" dirty="0"/>
              <a:t>- </a:t>
            </a:r>
            <a:r>
              <a:rPr lang="en-US" sz="1600" dirty="0"/>
              <a:t>Though not doing decoding, we are solving a similar problem that is to </a:t>
            </a:r>
            <a:br>
              <a:rPr lang="en-US" sz="1600" dirty="0"/>
            </a:br>
            <a:r>
              <a:rPr lang="en-US" sz="1600" dirty="0"/>
              <a:t>	</a:t>
            </a:r>
            <a:r>
              <a:rPr lang="en-US" sz="1600" b="1" dirty="0"/>
              <a:t>removing quantum noise using learned patterns.</a:t>
            </a:r>
            <a:endParaRPr lang="en-US" sz="1600" dirty="0"/>
          </a:p>
        </p:txBody>
      </p:sp>
      <p:sp>
        <p:nvSpPr>
          <p:cNvPr id="13" name="TextBox 12">
            <a:extLst>
              <a:ext uri="{FF2B5EF4-FFF2-40B4-BE49-F238E27FC236}">
                <a16:creationId xmlns:a16="http://schemas.microsoft.com/office/drawing/2014/main" id="{5435474B-3978-E15F-6522-0FCB7DBF425A}"/>
              </a:ext>
            </a:extLst>
          </p:cNvPr>
          <p:cNvSpPr txBox="1"/>
          <p:nvPr/>
        </p:nvSpPr>
        <p:spPr>
          <a:xfrm>
            <a:off x="9783778" y="1956170"/>
            <a:ext cx="2094807" cy="261610"/>
          </a:xfrm>
          <a:prstGeom prst="rect">
            <a:avLst/>
          </a:prstGeom>
          <a:noFill/>
        </p:spPr>
        <p:txBody>
          <a:bodyPr wrap="square" rtlCol="0">
            <a:spAutoFit/>
          </a:bodyPr>
          <a:lstStyle/>
          <a:p>
            <a:r>
              <a:rPr lang="en-IN" sz="1100" dirty="0"/>
              <a:t>Fig.1 Tomographic data of qubit.</a:t>
            </a:r>
          </a:p>
        </p:txBody>
      </p:sp>
      <p:sp>
        <p:nvSpPr>
          <p:cNvPr id="14" name="TextBox 13">
            <a:extLst>
              <a:ext uri="{FF2B5EF4-FFF2-40B4-BE49-F238E27FC236}">
                <a16:creationId xmlns:a16="http://schemas.microsoft.com/office/drawing/2014/main" id="{C21EACB7-9D02-83E1-F704-E22F940C7156}"/>
              </a:ext>
            </a:extLst>
          </p:cNvPr>
          <p:cNvSpPr txBox="1"/>
          <p:nvPr/>
        </p:nvSpPr>
        <p:spPr>
          <a:xfrm>
            <a:off x="8553797" y="6018413"/>
            <a:ext cx="3015569" cy="261610"/>
          </a:xfrm>
          <a:prstGeom prst="rect">
            <a:avLst/>
          </a:prstGeom>
          <a:noFill/>
        </p:spPr>
        <p:txBody>
          <a:bodyPr wrap="none" rtlCol="0">
            <a:spAutoFit/>
          </a:bodyPr>
          <a:lstStyle/>
          <a:p>
            <a:r>
              <a:rPr lang="en-IN" sz="1100" dirty="0"/>
              <a:t>Fig.2 </a:t>
            </a:r>
            <a:r>
              <a:rPr lang="en-US" sz="1100" i="0" dirty="0">
                <a:solidFill>
                  <a:srgbClr val="222222"/>
                </a:solidFill>
                <a:effectLst/>
                <a:latin typeface="Harding"/>
              </a:rPr>
              <a:t> Error correction and training of </a:t>
            </a:r>
            <a:r>
              <a:rPr lang="en-US" sz="1100" i="0" dirty="0" err="1">
                <a:solidFill>
                  <a:srgbClr val="222222"/>
                </a:solidFill>
                <a:effectLst/>
                <a:latin typeface="Harding"/>
              </a:rPr>
              <a:t>AlphaQubit</a:t>
            </a:r>
            <a:r>
              <a:rPr lang="en-US" sz="1100" i="0" dirty="0">
                <a:solidFill>
                  <a:srgbClr val="222222"/>
                </a:solidFill>
                <a:effectLst/>
                <a:latin typeface="Harding"/>
              </a:rPr>
              <a:t>.</a:t>
            </a:r>
            <a:endParaRPr lang="en-IN" sz="1100" dirty="0"/>
          </a:p>
        </p:txBody>
      </p:sp>
    </p:spTree>
    <p:extLst>
      <p:ext uri="{BB962C8B-B14F-4D97-AF65-F5344CB8AC3E}">
        <p14:creationId xmlns:p14="http://schemas.microsoft.com/office/powerpoint/2010/main" val="277472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137913-9129-849B-9495-061CC2E20591}"/>
              </a:ext>
            </a:extLst>
          </p:cNvPr>
          <p:cNvSpPr txBox="1"/>
          <p:nvPr/>
        </p:nvSpPr>
        <p:spPr>
          <a:xfrm>
            <a:off x="0" y="0"/>
            <a:ext cx="8390887" cy="754053"/>
          </a:xfrm>
          <a:prstGeom prst="rect">
            <a:avLst/>
          </a:prstGeom>
          <a:noFill/>
        </p:spPr>
        <p:txBody>
          <a:bodyPr wrap="none" rtlCol="0">
            <a:spAutoFit/>
          </a:bodyPr>
          <a:lstStyle/>
          <a:p>
            <a:r>
              <a:rPr lang="en-IN" sz="4300" dirty="0">
                <a:solidFill>
                  <a:schemeClr val="tx1">
                    <a:lumMod val="75000"/>
                    <a:lumOff val="25000"/>
                  </a:schemeClr>
                </a:solidFill>
                <a:latin typeface="+mj-lt"/>
              </a:rPr>
              <a:t>Data Processing and Training Pipeline</a:t>
            </a:r>
          </a:p>
        </p:txBody>
      </p:sp>
      <p:sp>
        <p:nvSpPr>
          <p:cNvPr id="3" name="TextBox 2">
            <a:extLst>
              <a:ext uri="{FF2B5EF4-FFF2-40B4-BE49-F238E27FC236}">
                <a16:creationId xmlns:a16="http://schemas.microsoft.com/office/drawing/2014/main" id="{C1BF9094-BE78-CB19-E99A-68B209C7969C}"/>
              </a:ext>
            </a:extLst>
          </p:cNvPr>
          <p:cNvSpPr txBox="1"/>
          <p:nvPr/>
        </p:nvSpPr>
        <p:spPr>
          <a:xfrm>
            <a:off x="0" y="754053"/>
            <a:ext cx="11845743" cy="1846659"/>
          </a:xfrm>
          <a:prstGeom prst="rect">
            <a:avLst/>
          </a:prstGeom>
          <a:noFill/>
        </p:spPr>
        <p:txBody>
          <a:bodyPr wrap="none" rtlCol="0">
            <a:spAutoFit/>
          </a:bodyPr>
          <a:lstStyle/>
          <a:p>
            <a:r>
              <a:rPr lang="en-IN" dirty="0"/>
              <a:t>Simulation and Preparation:</a:t>
            </a:r>
          </a:p>
          <a:p>
            <a:pPr marL="342900" indent="-342900">
              <a:buAutoNum type="arabicPeriod"/>
            </a:pPr>
            <a:r>
              <a:rPr lang="en-IN" sz="1600" dirty="0"/>
              <a:t>Randomly simulated complex quantum circuit with 5 qubits with depth 6-9. </a:t>
            </a:r>
          </a:p>
          <a:p>
            <a:pPr marL="342900" indent="-342900">
              <a:buAutoNum type="arabicPeriod"/>
            </a:pPr>
            <a:r>
              <a:rPr lang="en-IN" sz="1600" dirty="0"/>
              <a:t>Sampled diverse gate combinations (Hadamard, Rx, Ry, CZ, SWAP etc.)</a:t>
            </a:r>
          </a:p>
          <a:p>
            <a:pPr marL="342900" indent="-342900">
              <a:buAutoNum type="arabicPeriod"/>
            </a:pPr>
            <a:r>
              <a:rPr lang="en-IN" sz="1600" dirty="0"/>
              <a:t>Applied 5 types of realistic noises such as , Depolarizing, Amplitude damping, Phase damping, Bitflip and mixed (as per the suggestions).</a:t>
            </a:r>
          </a:p>
          <a:p>
            <a:pPr marL="342900" indent="-342900">
              <a:buAutoNum type="arabicPeriod"/>
            </a:pPr>
            <a:r>
              <a:rPr lang="en-IN" sz="1600" dirty="0"/>
              <a:t>All these noises were random and were paired with its clean counterpart. </a:t>
            </a:r>
          </a:p>
          <a:p>
            <a:pPr marL="342900" indent="-342900">
              <a:buAutoNum type="arabicPeriod"/>
            </a:pPr>
            <a:r>
              <a:rPr lang="en-IN" sz="1600" dirty="0"/>
              <a:t>Lastly, we extracted density matrix for both clean and noisy circuits and stored the output as 2^n x 2^n complex matrices.</a:t>
            </a:r>
            <a:br>
              <a:rPr lang="en-IN" sz="1600" dirty="0"/>
            </a:br>
            <a:endParaRPr lang="en-IN" sz="1600" dirty="0"/>
          </a:p>
        </p:txBody>
      </p:sp>
      <p:sp>
        <p:nvSpPr>
          <p:cNvPr id="4" name="TextBox 3">
            <a:extLst>
              <a:ext uri="{FF2B5EF4-FFF2-40B4-BE49-F238E27FC236}">
                <a16:creationId xmlns:a16="http://schemas.microsoft.com/office/drawing/2014/main" id="{380194D7-EC03-00F4-56F3-9939A5FF2F67}"/>
              </a:ext>
            </a:extLst>
          </p:cNvPr>
          <p:cNvSpPr txBox="1"/>
          <p:nvPr/>
        </p:nvSpPr>
        <p:spPr>
          <a:xfrm>
            <a:off x="-59267" y="2421099"/>
            <a:ext cx="9939866" cy="2585323"/>
          </a:xfrm>
          <a:prstGeom prst="rect">
            <a:avLst/>
          </a:prstGeom>
          <a:noFill/>
        </p:spPr>
        <p:txBody>
          <a:bodyPr wrap="square" rtlCol="0">
            <a:spAutoFit/>
          </a:bodyPr>
          <a:lstStyle/>
          <a:p>
            <a:r>
              <a:rPr lang="en-IN" dirty="0"/>
              <a:t>Data Transformation for our model:</a:t>
            </a:r>
          </a:p>
          <a:p>
            <a:pPr marL="342900" indent="-342900">
              <a:buAutoNum type="arabicPeriod"/>
            </a:pPr>
            <a:r>
              <a:rPr lang="en-IN" sz="1600" dirty="0"/>
              <a:t>Dataset was split into 3 parts Train (64%), Val (16%) and Test (20%).</a:t>
            </a:r>
          </a:p>
          <a:p>
            <a:pPr marL="342900" indent="-342900">
              <a:buAutoNum type="arabicPeriod"/>
            </a:pPr>
            <a:r>
              <a:rPr lang="en-IN" sz="1600" dirty="0"/>
              <a:t>Separated the real and imaginary component of the complex matrix and converted each matrix into a 2-channel format</a:t>
            </a:r>
            <a:br>
              <a:rPr lang="en-IN" sz="1600" dirty="0"/>
            </a:br>
            <a:r>
              <a:rPr lang="en-IN" sz="1600" dirty="0"/>
              <a:t>X = [Real(noisy), Imaginary(noisy)]</a:t>
            </a:r>
            <a:br>
              <a:rPr lang="en-IN" sz="1600" dirty="0"/>
            </a:br>
            <a:r>
              <a:rPr lang="en-IN" sz="1600" dirty="0"/>
              <a:t>Y = [Real(clean), Imaginary(clean)].</a:t>
            </a:r>
          </a:p>
          <a:p>
            <a:pPr marL="342900" indent="-342900">
              <a:buAutoNum type="arabicPeriod"/>
            </a:pPr>
            <a:r>
              <a:rPr lang="en-IN" sz="1600" dirty="0"/>
              <a:t>Final input for our model was of shape (32, 32, 2) for 5 qubits. </a:t>
            </a:r>
            <a:br>
              <a:rPr lang="en-IN" sz="1600" dirty="0"/>
            </a:br>
            <a:r>
              <a:rPr lang="en-IN" sz="1600" dirty="0"/>
              <a:t>(This input allows the </a:t>
            </a:r>
            <a:r>
              <a:rPr lang="en-US" sz="1600" dirty="0"/>
              <a:t>model to learn both </a:t>
            </a:r>
            <a:r>
              <a:rPr lang="en-US" sz="1600" b="1" dirty="0"/>
              <a:t>magnitude</a:t>
            </a:r>
            <a:r>
              <a:rPr lang="en-US" sz="1600" dirty="0"/>
              <a:t> and </a:t>
            </a:r>
            <a:r>
              <a:rPr lang="en-US" sz="1600" b="1" dirty="0"/>
              <a:t>phase patterns</a:t>
            </a:r>
            <a:r>
              <a:rPr lang="en-US" sz="1600" dirty="0"/>
              <a:t> in the density matrix. while mimicking </a:t>
            </a:r>
            <a:r>
              <a:rPr lang="en-IN" sz="1600" dirty="0"/>
              <a:t>image data</a:t>
            </a:r>
            <a:r>
              <a:rPr lang="en-US" sz="1600" dirty="0"/>
              <a:t>)</a:t>
            </a:r>
            <a:endParaRPr lang="en-IN" sz="1600" dirty="0"/>
          </a:p>
          <a:p>
            <a:pPr marL="342900" indent="-342900">
              <a:buAutoNum type="arabicPeriod"/>
            </a:pPr>
            <a:endParaRPr lang="en-IN" sz="1600" dirty="0"/>
          </a:p>
        </p:txBody>
      </p:sp>
      <p:pic>
        <p:nvPicPr>
          <p:cNvPr id="6" name="Picture 5">
            <a:extLst>
              <a:ext uri="{FF2B5EF4-FFF2-40B4-BE49-F238E27FC236}">
                <a16:creationId xmlns:a16="http://schemas.microsoft.com/office/drawing/2014/main" id="{1F299125-977A-6749-C1C9-F66C85F84CB1}"/>
              </a:ext>
            </a:extLst>
          </p:cNvPr>
          <p:cNvPicPr>
            <a:picLocks noChangeAspect="1"/>
          </p:cNvPicPr>
          <p:nvPr/>
        </p:nvPicPr>
        <p:blipFill>
          <a:blip r:embed="rId2"/>
          <a:stretch>
            <a:fillRect/>
          </a:stretch>
        </p:blipFill>
        <p:spPr>
          <a:xfrm>
            <a:off x="9939866" y="3713761"/>
            <a:ext cx="2252134" cy="2183127"/>
          </a:xfrm>
          <a:prstGeom prst="rect">
            <a:avLst/>
          </a:prstGeom>
        </p:spPr>
      </p:pic>
      <p:sp>
        <p:nvSpPr>
          <p:cNvPr id="7" name="TextBox 6">
            <a:extLst>
              <a:ext uri="{FF2B5EF4-FFF2-40B4-BE49-F238E27FC236}">
                <a16:creationId xmlns:a16="http://schemas.microsoft.com/office/drawing/2014/main" id="{35C68AF0-9709-D638-9429-69C3356374BF}"/>
              </a:ext>
            </a:extLst>
          </p:cNvPr>
          <p:cNvSpPr txBox="1"/>
          <p:nvPr/>
        </p:nvSpPr>
        <p:spPr>
          <a:xfrm>
            <a:off x="9678170" y="5973142"/>
            <a:ext cx="2513830" cy="261610"/>
          </a:xfrm>
          <a:prstGeom prst="rect">
            <a:avLst/>
          </a:prstGeom>
          <a:noFill/>
        </p:spPr>
        <p:txBody>
          <a:bodyPr wrap="none" rtlCol="0">
            <a:spAutoFit/>
          </a:bodyPr>
          <a:lstStyle/>
          <a:p>
            <a:r>
              <a:rPr lang="en-IN" sz="1100" dirty="0"/>
              <a:t>Fig 3. Density matrix for Real component</a:t>
            </a:r>
          </a:p>
        </p:txBody>
      </p:sp>
      <p:sp>
        <p:nvSpPr>
          <p:cNvPr id="8" name="TextBox 7">
            <a:extLst>
              <a:ext uri="{FF2B5EF4-FFF2-40B4-BE49-F238E27FC236}">
                <a16:creationId xmlns:a16="http://schemas.microsoft.com/office/drawing/2014/main" id="{1CC5436A-AF50-8A6E-2333-CC0578FBA8FC}"/>
              </a:ext>
            </a:extLst>
          </p:cNvPr>
          <p:cNvSpPr txBox="1"/>
          <p:nvPr/>
        </p:nvSpPr>
        <p:spPr>
          <a:xfrm>
            <a:off x="-1" y="4805324"/>
            <a:ext cx="9821333" cy="1354217"/>
          </a:xfrm>
          <a:prstGeom prst="rect">
            <a:avLst/>
          </a:prstGeom>
          <a:noFill/>
        </p:spPr>
        <p:txBody>
          <a:bodyPr wrap="square" rtlCol="0">
            <a:spAutoFit/>
          </a:bodyPr>
          <a:lstStyle/>
          <a:p>
            <a:r>
              <a:rPr lang="en-IN" dirty="0"/>
              <a:t>Visualization:</a:t>
            </a:r>
          </a:p>
          <a:p>
            <a:pPr marL="342900" indent="-342900">
              <a:buAutoNum type="arabicPeriod"/>
            </a:pPr>
            <a:r>
              <a:rPr lang="en-IN" sz="1600" dirty="0"/>
              <a:t>Figure 3 shows the density matrix for the real component of the complex matrix.</a:t>
            </a:r>
            <a:br>
              <a:rPr lang="en-IN" sz="1600" dirty="0"/>
            </a:br>
            <a:r>
              <a:rPr lang="en-IN" sz="1600" dirty="0"/>
              <a:t>Ex: </a:t>
            </a:r>
            <a:r>
              <a:rPr lang="en-US" sz="1600" dirty="0"/>
              <a:t>element (4,9) represents the real part of the amplitude/coherence between: ∣00100⟩ and ∣01001⟩</a:t>
            </a:r>
          </a:p>
          <a:p>
            <a:pPr marL="342900" indent="-342900">
              <a:buAutoNum type="arabicPeriod"/>
            </a:pPr>
            <a:r>
              <a:rPr lang="en-US" sz="1600" dirty="0"/>
              <a:t>The </a:t>
            </a:r>
            <a:r>
              <a:rPr lang="en-US" sz="1600" b="1" dirty="0"/>
              <a:t>horizontal bar ranging from -0.2 to 0.5</a:t>
            </a:r>
            <a:r>
              <a:rPr lang="en-US" sz="1600" dirty="0"/>
              <a:t> is a </a:t>
            </a:r>
            <a:r>
              <a:rPr lang="en-US" sz="1600" b="1" dirty="0"/>
              <a:t>color scale</a:t>
            </a:r>
            <a:r>
              <a:rPr lang="en-US" sz="1600" dirty="0"/>
              <a:t> that maps numerical values (from the real part of the density matrix) to specific colors on the heatmap.</a:t>
            </a:r>
            <a:endParaRPr lang="en-IN" sz="1600" dirty="0"/>
          </a:p>
        </p:txBody>
      </p:sp>
    </p:spTree>
    <p:extLst>
      <p:ext uri="{BB962C8B-B14F-4D97-AF65-F5344CB8AC3E}">
        <p14:creationId xmlns:p14="http://schemas.microsoft.com/office/powerpoint/2010/main" val="239253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E947E6-98D0-4783-C39D-BA3EB924DE85}"/>
              </a:ext>
            </a:extLst>
          </p:cNvPr>
          <p:cNvSpPr txBox="1"/>
          <p:nvPr/>
        </p:nvSpPr>
        <p:spPr>
          <a:xfrm>
            <a:off x="0" y="0"/>
            <a:ext cx="9484584" cy="754053"/>
          </a:xfrm>
          <a:prstGeom prst="rect">
            <a:avLst/>
          </a:prstGeom>
          <a:noFill/>
        </p:spPr>
        <p:txBody>
          <a:bodyPr wrap="none" rtlCol="0">
            <a:spAutoFit/>
          </a:bodyPr>
          <a:lstStyle/>
          <a:p>
            <a:r>
              <a:rPr lang="en-IN" sz="4300" dirty="0">
                <a:solidFill>
                  <a:schemeClr val="tx1">
                    <a:lumMod val="75000"/>
                    <a:lumOff val="25000"/>
                  </a:schemeClr>
                </a:solidFill>
                <a:latin typeface="+mj-lt"/>
              </a:rPr>
              <a:t>Proposed Method and Learning Algorithm</a:t>
            </a:r>
          </a:p>
        </p:txBody>
      </p:sp>
      <p:sp>
        <p:nvSpPr>
          <p:cNvPr id="3" name="TextBox 2">
            <a:extLst>
              <a:ext uri="{FF2B5EF4-FFF2-40B4-BE49-F238E27FC236}">
                <a16:creationId xmlns:a16="http://schemas.microsoft.com/office/drawing/2014/main" id="{B2B158AC-010A-8268-2A00-5D0BFFE70DF9}"/>
              </a:ext>
            </a:extLst>
          </p:cNvPr>
          <p:cNvSpPr txBox="1"/>
          <p:nvPr/>
        </p:nvSpPr>
        <p:spPr>
          <a:xfrm>
            <a:off x="0" y="754055"/>
            <a:ext cx="12192000" cy="2893100"/>
          </a:xfrm>
          <a:prstGeom prst="rect">
            <a:avLst/>
          </a:prstGeom>
          <a:noFill/>
        </p:spPr>
        <p:txBody>
          <a:bodyPr wrap="square" rtlCol="0">
            <a:spAutoFit/>
          </a:bodyPr>
          <a:lstStyle/>
          <a:p>
            <a:r>
              <a:rPr lang="en-IN" dirty="0"/>
              <a:t>Model Architecture: CNN (Convolutional Neural Network)</a:t>
            </a:r>
            <a:br>
              <a:rPr lang="en-IN" dirty="0"/>
            </a:br>
            <a:r>
              <a:rPr lang="en-IN" sz="1400" dirty="0"/>
              <a:t>-    </a:t>
            </a:r>
            <a:r>
              <a:rPr lang="en-IN" sz="1600" dirty="0"/>
              <a:t>Input shape: (32, 32, 2) real and imaginary parts of noisy 5-qubit density matrix.</a:t>
            </a:r>
          </a:p>
          <a:p>
            <a:pPr marL="285750" indent="-285750">
              <a:buFontTx/>
              <a:buChar char="-"/>
            </a:pPr>
            <a:r>
              <a:rPr lang="en-IN" sz="1600" dirty="0"/>
              <a:t>Six convolutional blocks with max pooling for compression, up-sampling for reconstruction.</a:t>
            </a:r>
          </a:p>
          <a:p>
            <a:pPr marL="285750" indent="-285750">
              <a:buFontTx/>
              <a:buChar char="-"/>
            </a:pPr>
            <a:r>
              <a:rPr lang="en-IN" sz="1600" dirty="0"/>
              <a:t>Final layer output (32, 32, 2) real and imaginary parts of predicted clean 5-qubit density matrix.</a:t>
            </a:r>
          </a:p>
          <a:p>
            <a:pPr marL="285750" indent="-285750">
              <a:buFontTx/>
              <a:buChar char="-"/>
            </a:pPr>
            <a:r>
              <a:rPr lang="en-IN" sz="1600" dirty="0"/>
              <a:t>Loss Function (custom):</a:t>
            </a:r>
            <a:br>
              <a:rPr lang="en-IN" sz="1600" dirty="0"/>
            </a:br>
            <a:r>
              <a:rPr lang="en-IN" sz="1600" dirty="0"/>
              <a:t>	Loss = MSE + 0.5 x (1 – Fidelity)  </a:t>
            </a:r>
            <a:br>
              <a:rPr lang="en-IN" sz="1600" dirty="0"/>
            </a:br>
            <a:r>
              <a:rPr lang="en-IN" sz="1600" dirty="0"/>
              <a:t>		(combines structural difference (MSE) with quantum similarity (Fidelity)</a:t>
            </a:r>
          </a:p>
          <a:p>
            <a:pPr marL="285750" indent="-285750">
              <a:buFontTx/>
              <a:buChar char="-"/>
            </a:pPr>
            <a:r>
              <a:rPr lang="en-IN" sz="1600" dirty="0"/>
              <a:t>Optimizer: Adam, with ReduceLRonPlateau and EarlyStopping callbacks.</a:t>
            </a:r>
          </a:p>
          <a:p>
            <a:pPr marL="285750" indent="-285750">
              <a:buFontTx/>
              <a:buChar char="-"/>
            </a:pPr>
            <a:r>
              <a:rPr lang="en-IN" sz="1600" dirty="0"/>
              <a:t>Training time: 100 epochs on 10,000 simulated circuits</a:t>
            </a:r>
            <a:r>
              <a:rPr lang="en-IN" sz="1400" dirty="0"/>
              <a:t>.</a:t>
            </a:r>
            <a:endParaRPr lang="en-IN" dirty="0"/>
          </a:p>
          <a:p>
            <a:pPr marL="285750" indent="-285750">
              <a:buFontTx/>
              <a:buChar char="-"/>
            </a:pPr>
            <a:endParaRPr lang="en-IN" dirty="0"/>
          </a:p>
          <a:p>
            <a:pPr marL="285750" indent="-285750">
              <a:buFontTx/>
              <a:buChar char="-"/>
            </a:pPr>
            <a:endParaRPr lang="en-IN" dirty="0"/>
          </a:p>
        </p:txBody>
      </p:sp>
      <p:sp>
        <p:nvSpPr>
          <p:cNvPr id="5" name="TextBox 4">
            <a:extLst>
              <a:ext uri="{FF2B5EF4-FFF2-40B4-BE49-F238E27FC236}">
                <a16:creationId xmlns:a16="http://schemas.microsoft.com/office/drawing/2014/main" id="{ED4B3491-2F2D-B162-E4E6-D904E0DEBE92}"/>
              </a:ext>
            </a:extLst>
          </p:cNvPr>
          <p:cNvSpPr txBox="1"/>
          <p:nvPr/>
        </p:nvSpPr>
        <p:spPr>
          <a:xfrm>
            <a:off x="0" y="3106487"/>
            <a:ext cx="12192000" cy="861774"/>
          </a:xfrm>
          <a:prstGeom prst="rect">
            <a:avLst/>
          </a:prstGeom>
          <a:noFill/>
        </p:spPr>
        <p:txBody>
          <a:bodyPr wrap="square" rtlCol="0">
            <a:spAutoFit/>
          </a:bodyPr>
          <a:lstStyle/>
          <a:p>
            <a:r>
              <a:rPr lang="en-IN" dirty="0"/>
              <a:t>Why Does it work?</a:t>
            </a:r>
            <a:br>
              <a:rPr lang="en-IN" dirty="0"/>
            </a:br>
            <a:r>
              <a:rPr lang="en-IN" sz="1600" dirty="0"/>
              <a:t>1.</a:t>
            </a:r>
            <a:r>
              <a:rPr lang="en-US" sz="1600" dirty="0"/>
              <a:t> CNNs are excellent at </a:t>
            </a:r>
            <a:r>
              <a:rPr lang="en-US" sz="1600" b="1" dirty="0"/>
              <a:t>capturing spatial patterns</a:t>
            </a:r>
            <a:r>
              <a:rPr lang="en-US" sz="1600" dirty="0"/>
              <a:t>, perfect for detecting structured quantum noise patterns in density matrices.</a:t>
            </a:r>
            <a:endParaRPr lang="en-IN" sz="1600" dirty="0"/>
          </a:p>
          <a:p>
            <a:r>
              <a:rPr lang="en-IN" sz="1600" dirty="0"/>
              <a:t>2. </a:t>
            </a:r>
            <a:r>
              <a:rPr lang="en-US" sz="1600" dirty="0"/>
              <a:t>Inspired by </a:t>
            </a:r>
            <a:r>
              <a:rPr lang="en-US" sz="1600" b="1" dirty="0"/>
              <a:t>autoencoder-like structure</a:t>
            </a:r>
            <a:r>
              <a:rPr lang="en-US" sz="1600" dirty="0"/>
              <a:t>, where the model compresses and reconstructs input.</a:t>
            </a:r>
            <a:endParaRPr lang="en-IN" sz="1600" dirty="0"/>
          </a:p>
        </p:txBody>
      </p:sp>
      <p:graphicFrame>
        <p:nvGraphicFramePr>
          <p:cNvPr id="6" name="Table 5">
            <a:extLst>
              <a:ext uri="{FF2B5EF4-FFF2-40B4-BE49-F238E27FC236}">
                <a16:creationId xmlns:a16="http://schemas.microsoft.com/office/drawing/2014/main" id="{1559017E-C84A-3ADD-9DEC-B9ACCD334C2E}"/>
              </a:ext>
            </a:extLst>
          </p:cNvPr>
          <p:cNvGraphicFramePr>
            <a:graphicFrameLocks noGrp="1"/>
          </p:cNvGraphicFramePr>
          <p:nvPr>
            <p:extLst>
              <p:ext uri="{D42A27DB-BD31-4B8C-83A1-F6EECF244321}">
                <p14:modId xmlns:p14="http://schemas.microsoft.com/office/powerpoint/2010/main" val="749873163"/>
              </p:ext>
            </p:extLst>
          </p:nvPr>
        </p:nvGraphicFramePr>
        <p:xfrm>
          <a:off x="2032000" y="4289367"/>
          <a:ext cx="8128000" cy="18884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14949344"/>
                    </a:ext>
                  </a:extLst>
                </a:gridCol>
                <a:gridCol w="4064000">
                  <a:extLst>
                    <a:ext uri="{9D8B030D-6E8A-4147-A177-3AD203B41FA5}">
                      <a16:colId xmlns:a16="http://schemas.microsoft.com/office/drawing/2014/main" val="2397837007"/>
                    </a:ext>
                  </a:extLst>
                </a:gridCol>
              </a:tblGrid>
              <a:tr h="426066">
                <a:tc>
                  <a:txBody>
                    <a:bodyPr/>
                    <a:lstStyle/>
                    <a:p>
                      <a:r>
                        <a:rPr lang="en-IN" sz="1600" dirty="0"/>
                        <a:t>                             PROS</a:t>
                      </a:r>
                    </a:p>
                  </a:txBody>
                  <a:tcPr/>
                </a:tc>
                <a:tc>
                  <a:txBody>
                    <a:bodyPr/>
                    <a:lstStyle/>
                    <a:p>
                      <a:r>
                        <a:rPr lang="en-IN" sz="1600" dirty="0"/>
                        <a:t>                                 CONS</a:t>
                      </a:r>
                    </a:p>
                  </a:txBody>
                  <a:tcPr/>
                </a:tc>
                <a:extLst>
                  <a:ext uri="{0D108BD9-81ED-4DB2-BD59-A6C34878D82A}">
                    <a16:rowId xmlns:a16="http://schemas.microsoft.com/office/drawing/2014/main" val="1556504228"/>
                  </a:ext>
                </a:extLst>
              </a:tr>
              <a:tr h="426066">
                <a:tc>
                  <a:txBody>
                    <a:bodyPr/>
                    <a:lstStyle/>
                    <a:p>
                      <a:r>
                        <a:rPr lang="en-US" sz="1400" dirty="0"/>
                        <a:t>Learns </a:t>
                      </a:r>
                      <a:r>
                        <a:rPr lang="en-US" sz="1400" b="1" dirty="0"/>
                        <a:t>nonlinear noise patterns</a:t>
                      </a:r>
                      <a:r>
                        <a:rPr lang="en-US" sz="1400" dirty="0"/>
                        <a:t> across quantum states.</a:t>
                      </a:r>
                      <a:endParaRPr lang="en-IN" sz="1400" dirty="0"/>
                    </a:p>
                  </a:txBody>
                  <a:tcPr/>
                </a:tc>
                <a:tc>
                  <a:txBody>
                    <a:bodyPr/>
                    <a:lstStyle/>
                    <a:p>
                      <a:r>
                        <a:rPr lang="en-US" sz="1400" dirty="0"/>
                        <a:t>Fixed input size: doesn’t scale directly to &gt;5 qubits.</a:t>
                      </a:r>
                      <a:endParaRPr lang="en-IN" sz="1400" dirty="0"/>
                    </a:p>
                  </a:txBody>
                  <a:tcPr/>
                </a:tc>
                <a:extLst>
                  <a:ext uri="{0D108BD9-81ED-4DB2-BD59-A6C34878D82A}">
                    <a16:rowId xmlns:a16="http://schemas.microsoft.com/office/drawing/2014/main" val="2118692150"/>
                  </a:ext>
                </a:extLst>
              </a:tr>
              <a:tr h="42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Generalizes to multiple noise types &amp; levels.</a:t>
                      </a:r>
                    </a:p>
                  </a:txBody>
                  <a:tcPr/>
                </a:tc>
                <a:tc>
                  <a:txBody>
                    <a:bodyPr/>
                    <a:lstStyle/>
                    <a:p>
                      <a:r>
                        <a:rPr lang="en-US" sz="1400" dirty="0"/>
                        <a:t>Needs a large simulated dataset.</a:t>
                      </a:r>
                      <a:endParaRPr lang="en-IN" sz="1400" dirty="0"/>
                    </a:p>
                  </a:txBody>
                  <a:tcPr/>
                </a:tc>
                <a:extLst>
                  <a:ext uri="{0D108BD9-81ED-4DB2-BD59-A6C34878D82A}">
                    <a16:rowId xmlns:a16="http://schemas.microsoft.com/office/drawing/2014/main" val="1251024446"/>
                  </a:ext>
                </a:extLst>
              </a:tr>
              <a:tr h="426066">
                <a:tc>
                  <a:txBody>
                    <a:bodyPr/>
                    <a:lstStyle/>
                    <a:p>
                      <a:r>
                        <a:rPr lang="en-US" sz="1400" dirty="0"/>
                        <a:t>Fidelity-aware training leads to </a:t>
                      </a:r>
                      <a:r>
                        <a:rPr lang="en-US" sz="1400" b="1" dirty="0"/>
                        <a:t>quantum-meaningful outputs.</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Struggles slightly with </a:t>
                      </a:r>
                      <a:r>
                        <a:rPr lang="en-US" sz="1400" b="1" dirty="0"/>
                        <a:t>high-noise cases</a:t>
                      </a:r>
                      <a:r>
                        <a:rPr lang="en-US" sz="1400" dirty="0"/>
                        <a:t> like depolarizing noise</a:t>
                      </a:r>
                      <a:r>
                        <a:rPr lang="en-IN" sz="1400" dirty="0"/>
                        <a:t>.</a:t>
                      </a:r>
                      <a:endParaRPr lang="en-US" sz="1400" dirty="0"/>
                    </a:p>
                  </a:txBody>
                  <a:tcPr/>
                </a:tc>
                <a:extLst>
                  <a:ext uri="{0D108BD9-81ED-4DB2-BD59-A6C34878D82A}">
                    <a16:rowId xmlns:a16="http://schemas.microsoft.com/office/drawing/2014/main" val="4009041685"/>
                  </a:ext>
                </a:extLst>
              </a:tr>
            </a:tbl>
          </a:graphicData>
        </a:graphic>
      </p:graphicFrame>
    </p:spTree>
    <p:extLst>
      <p:ext uri="{BB962C8B-B14F-4D97-AF65-F5344CB8AC3E}">
        <p14:creationId xmlns:p14="http://schemas.microsoft.com/office/powerpoint/2010/main" val="1558053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92097A-8CDC-8F7D-EDE4-46364F1A4DEA}"/>
              </a:ext>
            </a:extLst>
          </p:cNvPr>
          <p:cNvSpPr txBox="1"/>
          <p:nvPr/>
        </p:nvSpPr>
        <p:spPr>
          <a:xfrm>
            <a:off x="0" y="0"/>
            <a:ext cx="12192000" cy="754053"/>
          </a:xfrm>
          <a:prstGeom prst="rect">
            <a:avLst/>
          </a:prstGeom>
          <a:noFill/>
        </p:spPr>
        <p:txBody>
          <a:bodyPr wrap="square" rtlCol="0">
            <a:spAutoFit/>
          </a:bodyPr>
          <a:lstStyle/>
          <a:p>
            <a:r>
              <a:rPr lang="en-IN" sz="4300" dirty="0">
                <a:solidFill>
                  <a:schemeClr val="tx1">
                    <a:lumMod val="75000"/>
                    <a:lumOff val="25000"/>
                  </a:schemeClr>
                </a:solidFill>
                <a:latin typeface="+mj-lt"/>
              </a:rPr>
              <a:t>Our Learnings </a:t>
            </a:r>
          </a:p>
        </p:txBody>
      </p:sp>
      <p:sp>
        <p:nvSpPr>
          <p:cNvPr id="3" name="TextBox 2">
            <a:extLst>
              <a:ext uri="{FF2B5EF4-FFF2-40B4-BE49-F238E27FC236}">
                <a16:creationId xmlns:a16="http://schemas.microsoft.com/office/drawing/2014/main" id="{75B11217-0E2A-011E-696B-50ECCC065C4A}"/>
              </a:ext>
            </a:extLst>
          </p:cNvPr>
          <p:cNvSpPr txBox="1"/>
          <p:nvPr/>
        </p:nvSpPr>
        <p:spPr>
          <a:xfrm>
            <a:off x="0" y="754053"/>
            <a:ext cx="11917679" cy="2092881"/>
          </a:xfrm>
          <a:prstGeom prst="rect">
            <a:avLst/>
          </a:prstGeom>
          <a:noFill/>
        </p:spPr>
        <p:txBody>
          <a:bodyPr wrap="square" rtlCol="0">
            <a:spAutoFit/>
          </a:bodyPr>
          <a:lstStyle/>
          <a:p>
            <a:r>
              <a:rPr lang="en-US" dirty="0"/>
              <a:t>Model Performance</a:t>
            </a:r>
            <a:endParaRPr lang="en-US" sz="1600" dirty="0"/>
          </a:p>
          <a:p>
            <a:pPr marL="342900" indent="-342900">
              <a:buAutoNum type="arabicPeriod"/>
            </a:pPr>
            <a:r>
              <a:rPr lang="en-US" sz="1600" dirty="0"/>
              <a:t>Average Fidelity Improvement: Across all test samples, fidelity improved from ~0.27 (noisy) to ~0.77 (corrected).</a:t>
            </a:r>
          </a:p>
          <a:p>
            <a:pPr marL="342900" indent="-342900">
              <a:buAutoNum type="arabicPeriod"/>
            </a:pPr>
            <a:r>
              <a:rPr lang="en-US" sz="1600" dirty="0"/>
              <a:t>Histogram shows most samples improved by +0.4 to +0.75 → Model consistently denoised even highly distorted quantum states. </a:t>
            </a:r>
          </a:p>
          <a:p>
            <a:pPr marL="342900" indent="-342900">
              <a:buAutoNum type="arabicPeriod"/>
            </a:pPr>
            <a:r>
              <a:rPr lang="en-US" sz="1600" dirty="0"/>
              <a:t>Performance by Noise Type Best:  Mixed (+0.567) and Bitflip (+0.545).</a:t>
            </a:r>
          </a:p>
          <a:p>
            <a:pPr marL="342900" indent="-342900">
              <a:buAutoNum type="arabicPeriod"/>
            </a:pPr>
            <a:r>
              <a:rPr lang="en-US" sz="1600" dirty="0"/>
              <a:t>Performance by Noise Type Challenging: Phase Damping (+0.241) — already had high fidelity, less room to improve.</a:t>
            </a:r>
          </a:p>
          <a:p>
            <a:pPr marL="342900" indent="-342900">
              <a:buAutoNum type="arabicPeriod"/>
            </a:pPr>
            <a:r>
              <a:rPr lang="en-US" sz="1600" dirty="0"/>
              <a:t>Performance by Noise Level: Improvement increased as noise got worse:</a:t>
            </a:r>
            <a:br>
              <a:rPr lang="en-US" sz="1600" dirty="0"/>
            </a:br>
            <a:r>
              <a:rPr lang="en-US" sz="1600" dirty="0"/>
              <a:t>		From +0.396 at 0.05 → +0.553 at 0.20</a:t>
            </a:r>
            <a:br>
              <a:rPr lang="en-US" sz="1600" dirty="0"/>
            </a:br>
            <a:r>
              <a:rPr lang="en-US" sz="1600" dirty="0"/>
              <a:t>		Model adapted well to more corrupt inputs</a:t>
            </a:r>
            <a:endParaRPr lang="en-IN" sz="1600" dirty="0"/>
          </a:p>
        </p:txBody>
      </p:sp>
      <p:sp>
        <p:nvSpPr>
          <p:cNvPr id="4" name="TextBox 3">
            <a:extLst>
              <a:ext uri="{FF2B5EF4-FFF2-40B4-BE49-F238E27FC236}">
                <a16:creationId xmlns:a16="http://schemas.microsoft.com/office/drawing/2014/main" id="{6ED2D191-9B2E-C0BB-1F69-335EE82410F8}"/>
              </a:ext>
            </a:extLst>
          </p:cNvPr>
          <p:cNvSpPr txBox="1"/>
          <p:nvPr/>
        </p:nvSpPr>
        <p:spPr>
          <a:xfrm>
            <a:off x="0" y="2913971"/>
            <a:ext cx="12192000" cy="1107996"/>
          </a:xfrm>
          <a:prstGeom prst="rect">
            <a:avLst/>
          </a:prstGeom>
          <a:noFill/>
        </p:spPr>
        <p:txBody>
          <a:bodyPr wrap="square" rtlCol="0">
            <a:spAutoFit/>
          </a:bodyPr>
          <a:lstStyle/>
          <a:p>
            <a:pPr>
              <a:buNone/>
            </a:pPr>
            <a:r>
              <a:rPr lang="en-US" dirty="0"/>
              <a:t>Why the Model Performed This Way</a:t>
            </a:r>
            <a:endParaRPr lang="en-US" sz="1400" dirty="0"/>
          </a:p>
          <a:p>
            <a:pPr marL="342900" indent="-342900">
              <a:buAutoNum type="arabicPeriod"/>
            </a:pPr>
            <a:r>
              <a:rPr lang="en-US" sz="1600" dirty="0"/>
              <a:t> CNNs capture </a:t>
            </a:r>
            <a:r>
              <a:rPr lang="en-US" sz="1600" b="1" dirty="0"/>
              <a:t>local and global patterns</a:t>
            </a:r>
            <a:r>
              <a:rPr lang="en-US" sz="1600" dirty="0"/>
              <a:t> in the matrix — ideal for structured distortions like bitflip or amplitude damping</a:t>
            </a:r>
          </a:p>
          <a:p>
            <a:pPr marL="342900" indent="-342900">
              <a:buAutoNum type="arabicPeriod"/>
            </a:pPr>
            <a:r>
              <a:rPr lang="en-US" sz="1600" dirty="0"/>
              <a:t>Phase damping already preserves diagonal fidelity → less visible gain</a:t>
            </a:r>
          </a:p>
          <a:p>
            <a:pPr marL="342900" indent="-342900">
              <a:buAutoNum type="arabicPeriod"/>
            </a:pPr>
            <a:r>
              <a:rPr lang="en-US" sz="1600" dirty="0"/>
              <a:t>Negative correlation (</a:t>
            </a:r>
            <a:r>
              <a:rPr lang="en-US" sz="1600" b="1" dirty="0"/>
              <a:t>-0.55</a:t>
            </a:r>
            <a:r>
              <a:rPr lang="en-US" sz="1600" dirty="0"/>
              <a:t>) between noise level and noisy fidelity confirms this pattern</a:t>
            </a:r>
          </a:p>
        </p:txBody>
      </p:sp>
      <p:sp>
        <p:nvSpPr>
          <p:cNvPr id="6" name="TextBox 5">
            <a:extLst>
              <a:ext uri="{FF2B5EF4-FFF2-40B4-BE49-F238E27FC236}">
                <a16:creationId xmlns:a16="http://schemas.microsoft.com/office/drawing/2014/main" id="{A7E7B433-6DE8-9744-E258-C1D705916597}"/>
              </a:ext>
            </a:extLst>
          </p:cNvPr>
          <p:cNvSpPr txBox="1"/>
          <p:nvPr/>
        </p:nvSpPr>
        <p:spPr>
          <a:xfrm>
            <a:off x="0" y="4090719"/>
            <a:ext cx="12191999" cy="1846659"/>
          </a:xfrm>
          <a:prstGeom prst="rect">
            <a:avLst/>
          </a:prstGeom>
          <a:noFill/>
        </p:spPr>
        <p:txBody>
          <a:bodyPr wrap="square">
            <a:spAutoFit/>
          </a:bodyPr>
          <a:lstStyle/>
          <a:p>
            <a:r>
              <a:rPr lang="en-US" dirty="0"/>
              <a:t>What Motivated Our Final Solution</a:t>
            </a:r>
            <a:endParaRPr lang="en-US" sz="1600" dirty="0"/>
          </a:p>
          <a:p>
            <a:pPr marL="342900" indent="-342900">
              <a:buAutoNum type="arabicPeriod"/>
            </a:pPr>
            <a:r>
              <a:rPr lang="en-US" sz="1600" dirty="0"/>
              <a:t>Initial shallow CNNs failed on high noise (fidelity stayed &lt;0.65)</a:t>
            </a:r>
          </a:p>
          <a:p>
            <a:pPr marL="342900" indent="-342900">
              <a:buAutoNum type="arabicPeriod"/>
            </a:pPr>
            <a:r>
              <a:rPr lang="en-US" sz="1600" dirty="0"/>
              <a:t>We added: </a:t>
            </a:r>
            <a:br>
              <a:rPr lang="en-US" sz="1600" dirty="0"/>
            </a:br>
            <a:r>
              <a:rPr lang="en-US" sz="1600" dirty="0"/>
              <a:t>- Deeper encoder-decoder layers.</a:t>
            </a:r>
            <a:br>
              <a:rPr lang="en-US" sz="1600" dirty="0"/>
            </a:br>
            <a:r>
              <a:rPr lang="en-US" sz="1600" dirty="0"/>
              <a:t>- Dropout to avoid overfitting.</a:t>
            </a:r>
            <a:br>
              <a:rPr lang="en-US" sz="1600" dirty="0"/>
            </a:br>
            <a:r>
              <a:rPr lang="en-US" sz="1600" dirty="0"/>
              <a:t>- Fidelity-aware loss function to guide quantum recovery.</a:t>
            </a:r>
          </a:p>
          <a:p>
            <a:pPr marL="342900" indent="-342900">
              <a:buAutoNum type="arabicPeriod"/>
            </a:pPr>
            <a:r>
              <a:rPr lang="en-US" sz="1600" dirty="0"/>
              <a:t>These changes led to ~20% increase in fidelity gains</a:t>
            </a:r>
            <a:endParaRPr lang="en-IN" sz="2000" dirty="0"/>
          </a:p>
        </p:txBody>
      </p:sp>
    </p:spTree>
    <p:extLst>
      <p:ext uri="{BB962C8B-B14F-4D97-AF65-F5344CB8AC3E}">
        <p14:creationId xmlns:p14="http://schemas.microsoft.com/office/powerpoint/2010/main" val="2560709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A53A8B-E8A1-6F3E-3435-78161932D06D}"/>
              </a:ext>
            </a:extLst>
          </p:cNvPr>
          <p:cNvSpPr txBox="1"/>
          <p:nvPr/>
        </p:nvSpPr>
        <p:spPr>
          <a:xfrm>
            <a:off x="0" y="0"/>
            <a:ext cx="1782796" cy="754053"/>
          </a:xfrm>
          <a:prstGeom prst="rect">
            <a:avLst/>
          </a:prstGeom>
          <a:noFill/>
        </p:spPr>
        <p:txBody>
          <a:bodyPr wrap="none" rtlCol="0">
            <a:spAutoFit/>
          </a:bodyPr>
          <a:lstStyle/>
          <a:p>
            <a:r>
              <a:rPr lang="en-IN" sz="4300" dirty="0">
                <a:solidFill>
                  <a:schemeClr val="tx1">
                    <a:lumMod val="75000"/>
                    <a:lumOff val="25000"/>
                  </a:schemeClr>
                </a:solidFill>
                <a:latin typeface="+mj-lt"/>
              </a:rPr>
              <a:t>Results</a:t>
            </a:r>
          </a:p>
        </p:txBody>
      </p:sp>
      <p:pic>
        <p:nvPicPr>
          <p:cNvPr id="4" name="Picture 3">
            <a:extLst>
              <a:ext uri="{FF2B5EF4-FFF2-40B4-BE49-F238E27FC236}">
                <a16:creationId xmlns:a16="http://schemas.microsoft.com/office/drawing/2014/main" id="{887CC351-452E-01FF-FAA2-4A98F3CB9D65}"/>
              </a:ext>
            </a:extLst>
          </p:cNvPr>
          <p:cNvPicPr>
            <a:picLocks noChangeAspect="1"/>
          </p:cNvPicPr>
          <p:nvPr/>
        </p:nvPicPr>
        <p:blipFill>
          <a:blip r:embed="rId2"/>
          <a:stretch>
            <a:fillRect/>
          </a:stretch>
        </p:blipFill>
        <p:spPr>
          <a:xfrm>
            <a:off x="173873" y="754053"/>
            <a:ext cx="5753101" cy="3948084"/>
          </a:xfrm>
          <a:prstGeom prst="rect">
            <a:avLst/>
          </a:prstGeom>
        </p:spPr>
      </p:pic>
      <p:pic>
        <p:nvPicPr>
          <p:cNvPr id="6" name="Picture 5">
            <a:extLst>
              <a:ext uri="{FF2B5EF4-FFF2-40B4-BE49-F238E27FC236}">
                <a16:creationId xmlns:a16="http://schemas.microsoft.com/office/drawing/2014/main" id="{995FDFB6-A799-C2C6-223B-CA50256E209A}"/>
              </a:ext>
            </a:extLst>
          </p:cNvPr>
          <p:cNvPicPr>
            <a:picLocks noChangeAspect="1"/>
          </p:cNvPicPr>
          <p:nvPr/>
        </p:nvPicPr>
        <p:blipFill>
          <a:blip r:embed="rId3"/>
          <a:stretch>
            <a:fillRect/>
          </a:stretch>
        </p:blipFill>
        <p:spPr>
          <a:xfrm>
            <a:off x="6001096" y="754053"/>
            <a:ext cx="6190904" cy="3867823"/>
          </a:xfrm>
          <a:prstGeom prst="rect">
            <a:avLst/>
          </a:prstGeom>
        </p:spPr>
      </p:pic>
      <p:sp>
        <p:nvSpPr>
          <p:cNvPr id="8" name="TextBox 7">
            <a:extLst>
              <a:ext uri="{FF2B5EF4-FFF2-40B4-BE49-F238E27FC236}">
                <a16:creationId xmlns:a16="http://schemas.microsoft.com/office/drawing/2014/main" id="{E650DE6A-47A0-EC74-B22F-C97A42A6D197}"/>
              </a:ext>
            </a:extLst>
          </p:cNvPr>
          <p:cNvSpPr txBox="1"/>
          <p:nvPr/>
        </p:nvSpPr>
        <p:spPr>
          <a:xfrm>
            <a:off x="58189" y="5379502"/>
            <a:ext cx="12192000" cy="861774"/>
          </a:xfrm>
          <a:prstGeom prst="rect">
            <a:avLst/>
          </a:prstGeom>
          <a:noFill/>
        </p:spPr>
        <p:txBody>
          <a:bodyPr wrap="square">
            <a:spAutoFit/>
          </a:bodyPr>
          <a:lstStyle/>
          <a:p>
            <a:r>
              <a:rPr lang="en-US" dirty="0"/>
              <a:t>Takeaway:</a:t>
            </a:r>
            <a:br>
              <a:rPr lang="en-US" sz="1600" dirty="0"/>
            </a:br>
            <a:r>
              <a:rPr lang="en-US" sz="1600" dirty="0"/>
              <a:t>Our model successfully learned to denoise quantum states across diverse noise profiles with significant fidelity recovery, especially in lower-structure noise types like bitflip and mixed noise. These results validate the effectiveness of CNNs on complex-valued quantum data.</a:t>
            </a:r>
          </a:p>
        </p:txBody>
      </p:sp>
      <p:sp>
        <p:nvSpPr>
          <p:cNvPr id="9" name="TextBox 8">
            <a:extLst>
              <a:ext uri="{FF2B5EF4-FFF2-40B4-BE49-F238E27FC236}">
                <a16:creationId xmlns:a16="http://schemas.microsoft.com/office/drawing/2014/main" id="{7B2B977E-8A5B-EA27-D2D9-3CC6CB542DAF}"/>
              </a:ext>
            </a:extLst>
          </p:cNvPr>
          <p:cNvSpPr txBox="1"/>
          <p:nvPr/>
        </p:nvSpPr>
        <p:spPr>
          <a:xfrm>
            <a:off x="1782796" y="4702137"/>
            <a:ext cx="2553904" cy="261610"/>
          </a:xfrm>
          <a:prstGeom prst="rect">
            <a:avLst/>
          </a:prstGeom>
          <a:noFill/>
        </p:spPr>
        <p:txBody>
          <a:bodyPr wrap="none" rtlCol="0">
            <a:spAutoFit/>
          </a:bodyPr>
          <a:lstStyle/>
          <a:p>
            <a:r>
              <a:rPr lang="en-IN" sz="1100" dirty="0"/>
              <a:t>Fig. 4 Corrected DM output of our model.</a:t>
            </a:r>
          </a:p>
        </p:txBody>
      </p:sp>
      <p:sp>
        <p:nvSpPr>
          <p:cNvPr id="11" name="TextBox 10">
            <a:extLst>
              <a:ext uri="{FF2B5EF4-FFF2-40B4-BE49-F238E27FC236}">
                <a16:creationId xmlns:a16="http://schemas.microsoft.com/office/drawing/2014/main" id="{17EB3FF2-BA7F-CF92-CC4B-D52C17C61A0E}"/>
              </a:ext>
            </a:extLst>
          </p:cNvPr>
          <p:cNvSpPr txBox="1"/>
          <p:nvPr/>
        </p:nvSpPr>
        <p:spPr>
          <a:xfrm>
            <a:off x="8304415" y="4702137"/>
            <a:ext cx="2876204" cy="261610"/>
          </a:xfrm>
          <a:prstGeom prst="rect">
            <a:avLst/>
          </a:prstGeom>
          <a:noFill/>
        </p:spPr>
        <p:txBody>
          <a:bodyPr wrap="square">
            <a:spAutoFit/>
          </a:bodyPr>
          <a:lstStyle/>
          <a:p>
            <a:r>
              <a:rPr lang="en-US" sz="1100" dirty="0"/>
              <a:t>Fig. 5 Model Loss and MAE while training.</a:t>
            </a:r>
          </a:p>
        </p:txBody>
      </p:sp>
    </p:spTree>
    <p:extLst>
      <p:ext uri="{BB962C8B-B14F-4D97-AF65-F5344CB8AC3E}">
        <p14:creationId xmlns:p14="http://schemas.microsoft.com/office/powerpoint/2010/main" val="274885614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1723</TotalTime>
  <Words>1441</Words>
  <Application>Microsoft Office PowerPoint</Application>
  <PresentationFormat>Widescreen</PresentationFormat>
  <Paragraphs>75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Harding</vt:lpstr>
      <vt:lpstr>Retrospect</vt:lpstr>
      <vt:lpstr>Machine Learning for Quantum Noise Reduction </vt:lpstr>
      <vt:lpstr>Introduction</vt:lpstr>
      <vt:lpstr>Data Analysis and Feature Discovery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KENDRE</dc:creator>
  <cp:lastModifiedBy>KARAN KENDRE</cp:lastModifiedBy>
  <cp:revision>5</cp:revision>
  <dcterms:created xsi:type="dcterms:W3CDTF">2025-04-12T04:31:50Z</dcterms:created>
  <dcterms:modified xsi:type="dcterms:W3CDTF">2025-04-14T01:05:35Z</dcterms:modified>
</cp:coreProperties>
</file>